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451" r:id="rId2"/>
    <p:sldId id="454" r:id="rId3"/>
    <p:sldId id="457" r:id="rId4"/>
    <p:sldId id="458" r:id="rId5"/>
    <p:sldId id="459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460" r:id="rId14"/>
    <p:sldId id="461" r:id="rId15"/>
    <p:sldId id="264" r:id="rId16"/>
    <p:sldId id="265" r:id="rId17"/>
    <p:sldId id="462" r:id="rId18"/>
    <p:sldId id="455" r:id="rId19"/>
    <p:sldId id="456" r:id="rId20"/>
    <p:sldId id="35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61FF"/>
    <a:srgbClr val="A02B93"/>
    <a:srgbClr val="A83F9C"/>
    <a:srgbClr val="83337B"/>
    <a:srgbClr val="FF4B4B"/>
    <a:srgbClr val="FF46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22" autoAdjust="0"/>
    <p:restoredTop sz="94660"/>
  </p:normalViewPr>
  <p:slideViewPr>
    <p:cSldViewPr snapToGrid="0">
      <p:cViewPr>
        <p:scale>
          <a:sx n="100" d="100"/>
          <a:sy n="100" d="100"/>
        </p:scale>
        <p:origin x="444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D43A98-6906-4EC1-9E4C-0ACA2E9DF90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24B657-AF2E-4604-A8FA-5F909FE63A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391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C83A2-9615-18DA-22EA-D3CD5F60D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A8F347-0A3F-5A50-A7AF-4BA38B56A2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EC392-AD25-9A24-84CE-8C7ECC0A0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80065-70CE-45EE-B3A0-76DD58906D95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5CD29-B86F-BC6A-C3C5-213811C72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3E8D4D-78A1-F1CF-E7FD-16C9D6E40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07089-BCD4-466B-921F-C49D00AB8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135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399ED-1367-082A-4204-975F9CCFA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A43C3-889E-7BE8-377A-AD46B5AD2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70132-9C89-1057-3AC4-BCABD8857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80065-70CE-45EE-B3A0-76DD58906D95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D7D79-3612-029A-005E-88C6E0157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213E9-326B-8AF4-9014-2F5B11DE6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07089-BCD4-466B-921F-C49D00AB8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649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F7657-1498-21B1-5D85-CB71E40CC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E4F9AA-E969-DDFE-7F73-E9BAD3B992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D0D27-5A33-E661-B6AC-C4C6AF118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80065-70CE-45EE-B3A0-76DD58906D95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A5C90-CA0C-6585-C9FB-E3E7570A4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4F6ABC-7165-FD9C-006F-4BA0CCE77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07089-BCD4-466B-921F-C49D00AB8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047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BA72B-455A-1A70-9AAE-5A28C0630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922B6-CAC9-4CD9-A612-1EC9B7CFE6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D85587-ABFF-1369-4CCB-DABA4D3BCF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898DFD-50E4-0A4E-BDFA-8604AFA90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80065-70CE-45EE-B3A0-76DD58906D95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FC2FAA-52F8-5848-F216-045F93598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ABE1EA-4BEC-97C7-A263-516E4D34C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07089-BCD4-466B-921F-C49D00AB8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041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7EB1C-52FD-E00A-A3BD-23BC10B52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896E06-8FB9-C683-5E82-F5A690739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F14169-BD70-520C-1D6F-621970ACEE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3E4438-5005-C392-158F-4C62ED1B9B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47B1FE-6BED-566F-34E5-6170D0F584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1AD529-8CEA-3962-AF6B-47028EF54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80065-70CE-45EE-B3A0-76DD58906D95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190961-6E5D-1EE5-0E42-CEE0A4EE3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408BB3-7BDA-C62E-3056-D1E784A0C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07089-BCD4-466B-921F-C49D00AB8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864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7E5BD-EF22-0B34-C665-3C9FD855A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038F2E-F10A-4991-7F91-99737579E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80065-70CE-45EE-B3A0-76DD58906D95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9C2615-E983-45A6-AAB3-815733E51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8208B5-7A80-38D5-82C1-97112C0DB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07089-BCD4-466B-921F-C49D00AB8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777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D46019-C587-01F6-3A05-54466D2C2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80065-70CE-45EE-B3A0-76DD58906D95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249BF0-9409-CB32-83DA-8F684E6C4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D05966-4AC8-856F-E136-243675676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07089-BCD4-466B-921F-C49D00AB8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152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DD97F-E1D0-51B8-8798-C74A5AEDD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5C699-40B8-FD09-47F1-9D4CE5756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1355FF-608F-185E-3B4E-1D22975B39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135DE5-4A59-51C7-60B8-9A287BFE0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80065-70CE-45EE-B3A0-76DD58906D95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27EC36-71E3-63A3-CFEB-A01882EB3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3471F8-9024-E635-28DA-E16FA5D30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07089-BCD4-466B-921F-C49D00AB8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126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B682A-6D01-FBF2-DA3B-55AEB2DF0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F1DD56-E24E-FD1C-7DA9-3CBBB1F734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60AE3E-4F0F-2FBD-D153-092DC6E8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D1E8CB-4B66-B6EC-526C-B9CFBA01B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80065-70CE-45EE-B3A0-76DD58906D95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7C562E-E28A-8DFF-5C1D-12E6F7A75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1DBD5-AB82-0AFB-0DAA-035D7EFE6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07089-BCD4-466B-921F-C49D00AB8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637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DDCF9-ED24-6E5F-3D24-B6F687DC9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5F243B-F81D-288E-5DD0-602CD5DBF6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805B0-DE71-95B9-AEAD-10AD9F17D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80065-70CE-45EE-B3A0-76DD58906D95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29B23-6808-EAF6-A7C9-7B641AD8B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07E47-C1DA-B209-8D91-4B7181523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07089-BCD4-466B-921F-C49D00AB8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242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B4EB98-FDD2-57EE-E71A-684917E5E5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A17F83-5BE0-4FBA-43AA-DE5FC9D7DC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E3A66A-8FE3-75D7-BF37-BAD44D4D9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80065-70CE-45EE-B3A0-76DD58906D95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CC2E6-73B3-8D90-30C2-9F4E0C2A2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26CF3-B644-9AB2-6F57-29E87259C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07089-BCD4-466B-921F-C49D00AB8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2067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57679FE-E07B-4239-B6BD-EB2D71AF0E1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77206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12811D-4B13-8022-7261-139245019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E01E64-5A70-C6CB-6DD3-29905AD558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C47CF-A014-4772-271E-02CB9EFF1E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980065-70CE-45EE-B3A0-76DD58906D95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1F0E4-A2D7-08BB-F9D1-B4562718F8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A9F79-FBA1-1356-F122-D29375D2A8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E07089-BCD4-466B-921F-C49D00AB81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345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ECCACC0F-85CE-4D90-231A-EC89CE4E731A}"/>
              </a:ext>
            </a:extLst>
          </p:cNvPr>
          <p:cNvSpPr/>
          <p:nvPr/>
        </p:nvSpPr>
        <p:spPr>
          <a:xfrm>
            <a:off x="0" y="19878"/>
            <a:ext cx="12192000" cy="6858000"/>
          </a:xfrm>
          <a:prstGeom prst="rect">
            <a:avLst/>
          </a:prstGeom>
          <a:ln w="57150" cap="flat" cmpd="sng" algn="ctr">
            <a:noFill/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373975817">
                  <a:custGeom>
                    <a:avLst/>
                    <a:gdLst>
                      <a:gd name="connsiteX0" fmla="*/ 0 w 12192000"/>
                      <a:gd name="connsiteY0" fmla="*/ 0 h 6858000"/>
                      <a:gd name="connsiteX1" fmla="*/ 12192000 w 12192000"/>
                      <a:gd name="connsiteY1" fmla="*/ 0 h 6858000"/>
                      <a:gd name="connsiteX2" fmla="*/ 12192000 w 12192000"/>
                      <a:gd name="connsiteY2" fmla="*/ 6858000 h 6858000"/>
                      <a:gd name="connsiteX3" fmla="*/ 0 w 12192000"/>
                      <a:gd name="connsiteY3" fmla="*/ 6858000 h 6858000"/>
                      <a:gd name="connsiteX4" fmla="*/ 0 w 12192000"/>
                      <a:gd name="connsiteY4" fmla="*/ 0 h 6858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2192000" h="6858000" extrusionOk="0">
                        <a:moveTo>
                          <a:pt x="0" y="0"/>
                        </a:moveTo>
                        <a:cubicBezTo>
                          <a:pt x="5894416" y="7510"/>
                          <a:pt x="6129216" y="-149872"/>
                          <a:pt x="12192000" y="0"/>
                        </a:cubicBezTo>
                        <a:cubicBezTo>
                          <a:pt x="12185361" y="2791196"/>
                          <a:pt x="12100203" y="3540260"/>
                          <a:pt x="12192000" y="6858000"/>
                        </a:cubicBezTo>
                        <a:cubicBezTo>
                          <a:pt x="6790672" y="6820443"/>
                          <a:pt x="1885341" y="6750239"/>
                          <a:pt x="0" y="6858000"/>
                        </a:cubicBezTo>
                        <a:cubicBezTo>
                          <a:pt x="32739" y="4295452"/>
                          <a:pt x="-106164" y="153915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3776686-16F7-46FC-BBE5-61F62A5D2200}"/>
              </a:ext>
            </a:extLst>
          </p:cNvPr>
          <p:cNvGrpSpPr/>
          <p:nvPr/>
        </p:nvGrpSpPr>
        <p:grpSpPr>
          <a:xfrm>
            <a:off x="3788662" y="3710192"/>
            <a:ext cx="4600406" cy="109938"/>
            <a:chOff x="1024107" y="5242803"/>
            <a:chExt cx="5400000" cy="10993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5D1FE63-D0C2-4C96-A897-2673DF81E977}"/>
                </a:ext>
              </a:extLst>
            </p:cNvPr>
            <p:cNvSpPr/>
            <p:nvPr/>
          </p:nvSpPr>
          <p:spPr>
            <a:xfrm>
              <a:off x="1024107" y="5244741"/>
              <a:ext cx="1800000" cy="108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EB4121C-E63C-489E-BCDC-F57B29F5A3EC}"/>
                </a:ext>
              </a:extLst>
            </p:cNvPr>
            <p:cNvSpPr/>
            <p:nvPr/>
          </p:nvSpPr>
          <p:spPr>
            <a:xfrm>
              <a:off x="2824107" y="5243772"/>
              <a:ext cx="1800000" cy="108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B469D0C-E9C8-44C7-9544-812159A0567C}"/>
                </a:ext>
              </a:extLst>
            </p:cNvPr>
            <p:cNvSpPr/>
            <p:nvPr/>
          </p:nvSpPr>
          <p:spPr>
            <a:xfrm>
              <a:off x="4624107" y="5242803"/>
              <a:ext cx="1800000" cy="10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>
                <a:solidFill>
                  <a:schemeClr val="bg2">
                    <a:lumMod val="10000"/>
                  </a:schemeClr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9491698-4803-4404-A8B7-FFDB49BD5F45}"/>
              </a:ext>
            </a:extLst>
          </p:cNvPr>
          <p:cNvSpPr txBox="1"/>
          <p:nvPr/>
        </p:nvSpPr>
        <p:spPr>
          <a:xfrm>
            <a:off x="3700601" y="2821488"/>
            <a:ext cx="48499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MY" sz="2400" spc="300" dirty="0">
                <a:solidFill>
                  <a:srgbClr val="A83F9C"/>
                </a:solidFill>
                <a:latin typeface="Aileron Black" panose="00000A00000000000000" pitchFamily="50" charset="0"/>
              </a:rPr>
              <a:t>PRODUCT RECOMMENDATION</a:t>
            </a:r>
          </a:p>
          <a:p>
            <a:pPr algn="ctr"/>
            <a:r>
              <a:rPr lang="en-MY" sz="2400" spc="300" dirty="0">
                <a:solidFill>
                  <a:srgbClr val="A83F9C"/>
                </a:solidFill>
                <a:latin typeface="Aileron Black" panose="00000A00000000000000" pitchFamily="50" charset="0"/>
              </a:rPr>
              <a:t> SYSTEM</a:t>
            </a:r>
          </a:p>
        </p:txBody>
      </p:sp>
      <p:sp>
        <p:nvSpPr>
          <p:cNvPr id="10" name="Diagonal Stripe 9">
            <a:extLst>
              <a:ext uri="{FF2B5EF4-FFF2-40B4-BE49-F238E27FC236}">
                <a16:creationId xmlns:a16="http://schemas.microsoft.com/office/drawing/2014/main" id="{AAEFF757-C77D-60FA-37FE-460A06B5FABE}"/>
              </a:ext>
            </a:extLst>
          </p:cNvPr>
          <p:cNvSpPr/>
          <p:nvPr/>
        </p:nvSpPr>
        <p:spPr>
          <a:xfrm rot="2687494">
            <a:off x="1773324" y="2574568"/>
            <a:ext cx="8645350" cy="8596681"/>
          </a:xfrm>
          <a:prstGeom prst="diagStripe">
            <a:avLst>
              <a:gd name="adj" fmla="val 96194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>
              <a:solidFill>
                <a:schemeClr val="tx1"/>
              </a:solidFill>
            </a:endParaRPr>
          </a:p>
        </p:txBody>
      </p:sp>
      <p:sp>
        <p:nvSpPr>
          <p:cNvPr id="11" name="Diagonal Stripe 10">
            <a:extLst>
              <a:ext uri="{FF2B5EF4-FFF2-40B4-BE49-F238E27FC236}">
                <a16:creationId xmlns:a16="http://schemas.microsoft.com/office/drawing/2014/main" id="{5FB33BDB-A5BD-C3DD-5247-BE403E8BC949}"/>
              </a:ext>
            </a:extLst>
          </p:cNvPr>
          <p:cNvSpPr/>
          <p:nvPr/>
        </p:nvSpPr>
        <p:spPr>
          <a:xfrm rot="13453934">
            <a:off x="1712017" y="-4256151"/>
            <a:ext cx="8754369" cy="8485668"/>
          </a:xfrm>
          <a:prstGeom prst="diagStripe">
            <a:avLst>
              <a:gd name="adj" fmla="val 96194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>
              <a:solidFill>
                <a:schemeClr val="tx1"/>
              </a:solidFill>
            </a:endParaRPr>
          </a:p>
        </p:txBody>
      </p:sp>
      <p:sp>
        <p:nvSpPr>
          <p:cNvPr id="12" name="Diagonal Stripe 11">
            <a:extLst>
              <a:ext uri="{FF2B5EF4-FFF2-40B4-BE49-F238E27FC236}">
                <a16:creationId xmlns:a16="http://schemas.microsoft.com/office/drawing/2014/main" id="{4BBEDBD7-5642-5D71-73CA-9241E69CF8A2}"/>
              </a:ext>
            </a:extLst>
          </p:cNvPr>
          <p:cNvSpPr/>
          <p:nvPr/>
        </p:nvSpPr>
        <p:spPr>
          <a:xfrm rot="8026827">
            <a:off x="-2474672" y="1070111"/>
            <a:ext cx="4922148" cy="4716946"/>
          </a:xfrm>
          <a:prstGeom prst="diagStripe">
            <a:avLst>
              <a:gd name="adj" fmla="val 93246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>
              <a:solidFill>
                <a:schemeClr val="tx1"/>
              </a:solidFill>
            </a:endParaRPr>
          </a:p>
        </p:txBody>
      </p:sp>
      <p:sp>
        <p:nvSpPr>
          <p:cNvPr id="13" name="Diagonal Stripe 12">
            <a:extLst>
              <a:ext uri="{FF2B5EF4-FFF2-40B4-BE49-F238E27FC236}">
                <a16:creationId xmlns:a16="http://schemas.microsoft.com/office/drawing/2014/main" id="{A154C29B-D9F9-4B68-C720-1BFB9DA336C7}"/>
              </a:ext>
            </a:extLst>
          </p:cNvPr>
          <p:cNvSpPr/>
          <p:nvPr/>
        </p:nvSpPr>
        <p:spPr>
          <a:xfrm rot="18796698">
            <a:off x="9729922" y="1102865"/>
            <a:ext cx="4936905" cy="4671863"/>
          </a:xfrm>
          <a:prstGeom prst="diagStripe">
            <a:avLst>
              <a:gd name="adj" fmla="val 9324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>
              <a:solidFill>
                <a:schemeClr val="tx1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BC40059-7BF2-6922-2F3A-8C9B4910FE07}"/>
              </a:ext>
            </a:extLst>
          </p:cNvPr>
          <p:cNvGrpSpPr/>
          <p:nvPr/>
        </p:nvGrpSpPr>
        <p:grpSpPr>
          <a:xfrm>
            <a:off x="3825356" y="2626759"/>
            <a:ext cx="4600406" cy="109938"/>
            <a:chOff x="1024107" y="5242803"/>
            <a:chExt cx="5400000" cy="109938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8292D73-09D4-442E-DD04-1C64ABF15503}"/>
                </a:ext>
              </a:extLst>
            </p:cNvPr>
            <p:cNvSpPr/>
            <p:nvPr/>
          </p:nvSpPr>
          <p:spPr>
            <a:xfrm>
              <a:off x="1024107" y="5244741"/>
              <a:ext cx="1800000" cy="108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4ECF588-3F2A-2435-94EE-7FA9C98F38B8}"/>
                </a:ext>
              </a:extLst>
            </p:cNvPr>
            <p:cNvSpPr/>
            <p:nvPr/>
          </p:nvSpPr>
          <p:spPr>
            <a:xfrm>
              <a:off x="2824107" y="5243772"/>
              <a:ext cx="1800000" cy="108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>
                <a:solidFill>
                  <a:schemeClr val="bg2">
                    <a:lumMod val="10000"/>
                  </a:schemeClr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EE00AF1-2861-1C26-BEF2-668A9F390EF0}"/>
                </a:ext>
              </a:extLst>
            </p:cNvPr>
            <p:cNvSpPr/>
            <p:nvPr/>
          </p:nvSpPr>
          <p:spPr>
            <a:xfrm>
              <a:off x="4624107" y="5242803"/>
              <a:ext cx="1800000" cy="1080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>
                <a:solidFill>
                  <a:schemeClr val="bg2">
                    <a:lumMod val="1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303278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0" presetClass="entr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50" presetClass="entr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 animBg="1"/>
      <p:bldP spid="11" grpId="0" animBg="1"/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>
            <a:extLst>
              <a:ext uri="{FF2B5EF4-FFF2-40B4-BE49-F238E27FC236}">
                <a16:creationId xmlns:a16="http://schemas.microsoft.com/office/drawing/2014/main" id="{DC3BA5BE-CEB8-03D9-21DF-5B14F472BEE4}"/>
              </a:ext>
            </a:extLst>
          </p:cNvPr>
          <p:cNvSpPr/>
          <p:nvPr/>
        </p:nvSpPr>
        <p:spPr>
          <a:xfrm>
            <a:off x="1463431" y="1104281"/>
            <a:ext cx="5080040" cy="63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3200" dirty="0">
                <a:solidFill>
                  <a:srgbClr val="A83F9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Meet the Team</a:t>
            </a:r>
            <a:endParaRPr lang="en-US" sz="3200" dirty="0">
              <a:solidFill>
                <a:srgbClr val="A83F9C"/>
              </a:solidFill>
            </a:endParaRP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14392B66-4D80-ACFF-CAA1-AE7BA886520C}"/>
              </a:ext>
            </a:extLst>
          </p:cNvPr>
          <p:cNvSpPr/>
          <p:nvPr/>
        </p:nvSpPr>
        <p:spPr>
          <a:xfrm>
            <a:off x="1463431" y="1793986"/>
            <a:ext cx="13049964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200" dirty="0">
                <a:solidFill>
                  <a:srgbClr val="703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Our dedicated 6-member team worked to bring the Product Recommendation System to life.</a:t>
            </a:r>
            <a:endParaRPr lang="en-US" sz="1200" dirty="0">
              <a:solidFill>
                <a:srgbClr val="7030A0"/>
              </a:solidFill>
            </a:endParaRPr>
          </a:p>
        </p:txBody>
      </p:sp>
      <p:pic>
        <p:nvPicPr>
          <p:cNvPr id="18" name="Image 0" descr="preencoded.png">
            <a:extLst>
              <a:ext uri="{FF2B5EF4-FFF2-40B4-BE49-F238E27FC236}">
                <a16:creationId xmlns:a16="http://schemas.microsoft.com/office/drawing/2014/main" id="{6BD812FA-0818-1EBF-2984-54296F07ED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3552" y="2551374"/>
            <a:ext cx="507921" cy="507921"/>
          </a:xfrm>
          <a:prstGeom prst="rect">
            <a:avLst/>
          </a:prstGeom>
        </p:spPr>
      </p:pic>
      <p:sp>
        <p:nvSpPr>
          <p:cNvPr id="19" name="Text 2">
            <a:extLst>
              <a:ext uri="{FF2B5EF4-FFF2-40B4-BE49-F238E27FC236}">
                <a16:creationId xmlns:a16="http://schemas.microsoft.com/office/drawing/2014/main" id="{2C9AAFD1-45AF-2734-AECA-B1D70A79FB48}"/>
              </a:ext>
            </a:extLst>
          </p:cNvPr>
          <p:cNvSpPr/>
          <p:nvPr/>
        </p:nvSpPr>
        <p:spPr>
          <a:xfrm>
            <a:off x="1463552" y="3080315"/>
            <a:ext cx="2539960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7030A0"/>
                </a:solidFill>
                <a:latin typeface="Alexandria Medium" pitchFamily="34" charset="0"/>
                <a:cs typeface="Alexandria Medium" pitchFamily="34" charset="-120"/>
              </a:rPr>
              <a:t>Sunitha</a:t>
            </a:r>
            <a:endParaRPr lang="en-US" sz="1600" dirty="0">
              <a:solidFill>
                <a:srgbClr val="7030A0"/>
              </a:solidFill>
            </a:endParaRPr>
          </a:p>
        </p:txBody>
      </p:sp>
      <p:pic>
        <p:nvPicPr>
          <p:cNvPr id="20" name="Image 1" descr="preencoded.png">
            <a:extLst>
              <a:ext uri="{FF2B5EF4-FFF2-40B4-BE49-F238E27FC236}">
                <a16:creationId xmlns:a16="http://schemas.microsoft.com/office/drawing/2014/main" id="{4D7B9699-6291-3FC3-690F-ABBFF92E2C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03512" y="2551374"/>
            <a:ext cx="507921" cy="507921"/>
          </a:xfrm>
          <a:prstGeom prst="rect">
            <a:avLst/>
          </a:prstGeom>
        </p:spPr>
      </p:pic>
      <p:sp>
        <p:nvSpPr>
          <p:cNvPr id="21" name="Text 4">
            <a:extLst>
              <a:ext uri="{FF2B5EF4-FFF2-40B4-BE49-F238E27FC236}">
                <a16:creationId xmlns:a16="http://schemas.microsoft.com/office/drawing/2014/main" id="{0B857514-0575-8410-2DEF-890BF7160513}"/>
              </a:ext>
            </a:extLst>
          </p:cNvPr>
          <p:cNvSpPr/>
          <p:nvPr/>
        </p:nvSpPr>
        <p:spPr>
          <a:xfrm>
            <a:off x="4003512" y="3063258"/>
            <a:ext cx="2539960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7030A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Govardhan Reddy Sunkara</a:t>
            </a:r>
            <a:endParaRPr lang="en-US" sz="1600" dirty="0">
              <a:solidFill>
                <a:srgbClr val="7030A0"/>
              </a:solidFill>
            </a:endParaRPr>
          </a:p>
        </p:txBody>
      </p:sp>
      <p:pic>
        <p:nvPicPr>
          <p:cNvPr id="22" name="Image 2" descr="preencoded.png">
            <a:extLst>
              <a:ext uri="{FF2B5EF4-FFF2-40B4-BE49-F238E27FC236}">
                <a16:creationId xmlns:a16="http://schemas.microsoft.com/office/drawing/2014/main" id="{32BA009A-4662-4EFC-7996-D5376C4DC3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3552" y="3510065"/>
            <a:ext cx="507921" cy="507921"/>
          </a:xfrm>
          <a:prstGeom prst="rect">
            <a:avLst/>
          </a:prstGeom>
        </p:spPr>
      </p:pic>
      <p:sp>
        <p:nvSpPr>
          <p:cNvPr id="23" name="Text 6">
            <a:extLst>
              <a:ext uri="{FF2B5EF4-FFF2-40B4-BE49-F238E27FC236}">
                <a16:creationId xmlns:a16="http://schemas.microsoft.com/office/drawing/2014/main" id="{E81E3CCC-6334-5640-7E53-6A59AC3964F1}"/>
              </a:ext>
            </a:extLst>
          </p:cNvPr>
          <p:cNvSpPr/>
          <p:nvPr/>
        </p:nvSpPr>
        <p:spPr>
          <a:xfrm>
            <a:off x="1463552" y="4034665"/>
            <a:ext cx="2539960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7030A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Shaik Shamiulla</a:t>
            </a:r>
            <a:endParaRPr lang="en-US" sz="1600" dirty="0">
              <a:solidFill>
                <a:srgbClr val="7030A0"/>
              </a:solidFill>
            </a:endParaRPr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5F453FCA-FEC5-85F9-9287-A60B6E49FF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03512" y="3517553"/>
            <a:ext cx="507921" cy="507921"/>
          </a:xfrm>
          <a:prstGeom prst="rect">
            <a:avLst/>
          </a:prstGeom>
        </p:spPr>
      </p:pic>
      <p:sp>
        <p:nvSpPr>
          <p:cNvPr id="25" name="Text 8">
            <a:extLst>
              <a:ext uri="{FF2B5EF4-FFF2-40B4-BE49-F238E27FC236}">
                <a16:creationId xmlns:a16="http://schemas.microsoft.com/office/drawing/2014/main" id="{5A96B7FE-CB8A-1A7A-5E9E-95244287DDFE}"/>
              </a:ext>
            </a:extLst>
          </p:cNvPr>
          <p:cNvSpPr/>
          <p:nvPr/>
        </p:nvSpPr>
        <p:spPr>
          <a:xfrm>
            <a:off x="4003512" y="4028219"/>
            <a:ext cx="2539960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7030A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Pavan </a:t>
            </a:r>
            <a:r>
              <a:rPr lang="en-US" sz="1600" dirty="0" err="1">
                <a:solidFill>
                  <a:srgbClr val="7030A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Dudi</a:t>
            </a:r>
            <a:endParaRPr lang="en-US" sz="1600" dirty="0">
              <a:solidFill>
                <a:srgbClr val="7030A0"/>
              </a:solidFill>
            </a:endParaRPr>
          </a:p>
        </p:txBody>
      </p:sp>
      <p:pic>
        <p:nvPicPr>
          <p:cNvPr id="26" name="Image 4" descr="preencoded.png">
            <a:extLst>
              <a:ext uri="{FF2B5EF4-FFF2-40B4-BE49-F238E27FC236}">
                <a16:creationId xmlns:a16="http://schemas.microsoft.com/office/drawing/2014/main" id="{DFDD91EB-AD4C-2652-93B1-214EBA5BD5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3552" y="4450866"/>
            <a:ext cx="507921" cy="507921"/>
          </a:xfrm>
          <a:prstGeom prst="rect">
            <a:avLst/>
          </a:prstGeom>
        </p:spPr>
      </p:pic>
      <p:sp>
        <p:nvSpPr>
          <p:cNvPr id="27" name="Text 10">
            <a:extLst>
              <a:ext uri="{FF2B5EF4-FFF2-40B4-BE49-F238E27FC236}">
                <a16:creationId xmlns:a16="http://schemas.microsoft.com/office/drawing/2014/main" id="{D0571745-47FA-AC47-637D-4212AE8E47C2}"/>
              </a:ext>
            </a:extLst>
          </p:cNvPr>
          <p:cNvSpPr/>
          <p:nvPr/>
        </p:nvSpPr>
        <p:spPr>
          <a:xfrm>
            <a:off x="1463552" y="5064014"/>
            <a:ext cx="2539960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7030A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Dharani A</a:t>
            </a:r>
            <a:endParaRPr lang="en-US" sz="1600" dirty="0">
              <a:solidFill>
                <a:srgbClr val="7030A0"/>
              </a:solidFill>
            </a:endParaRPr>
          </a:p>
        </p:txBody>
      </p:sp>
      <p:pic>
        <p:nvPicPr>
          <p:cNvPr id="28" name="Image 5" descr="preencoded.png">
            <a:extLst>
              <a:ext uri="{FF2B5EF4-FFF2-40B4-BE49-F238E27FC236}">
                <a16:creationId xmlns:a16="http://schemas.microsoft.com/office/drawing/2014/main" id="{AC983384-2049-B37B-3E8A-B7735473E3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03511" y="4450866"/>
            <a:ext cx="507921" cy="507921"/>
          </a:xfrm>
          <a:prstGeom prst="rect">
            <a:avLst/>
          </a:prstGeom>
        </p:spPr>
      </p:pic>
      <p:sp>
        <p:nvSpPr>
          <p:cNvPr id="29" name="Text 12">
            <a:extLst>
              <a:ext uri="{FF2B5EF4-FFF2-40B4-BE49-F238E27FC236}">
                <a16:creationId xmlns:a16="http://schemas.microsoft.com/office/drawing/2014/main" id="{DDDF69A5-19CC-0B99-C123-270FF9BD2058}"/>
              </a:ext>
            </a:extLst>
          </p:cNvPr>
          <p:cNvSpPr/>
          <p:nvPr/>
        </p:nvSpPr>
        <p:spPr>
          <a:xfrm>
            <a:off x="4003511" y="5064014"/>
            <a:ext cx="2539960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7030A0"/>
                </a:solidFill>
                <a:latin typeface="Alexandria Medium" pitchFamily="34" charset="0"/>
                <a:cs typeface="Alexandria Medium" pitchFamily="34" charset="-120"/>
              </a:rPr>
              <a:t>M BHARATH KUMAR REDDY</a:t>
            </a:r>
            <a:endParaRPr lang="en-US" sz="1600" dirty="0">
              <a:solidFill>
                <a:srgbClr val="7030A0"/>
              </a:solidFill>
            </a:endParaRPr>
          </a:p>
        </p:txBody>
      </p:sp>
      <p:sp>
        <p:nvSpPr>
          <p:cNvPr id="30" name="Text 1">
            <a:extLst>
              <a:ext uri="{FF2B5EF4-FFF2-40B4-BE49-F238E27FC236}">
                <a16:creationId xmlns:a16="http://schemas.microsoft.com/office/drawing/2014/main" id="{DC1BBA70-26CE-14E0-B0BB-E6CDCCD8FBF0}"/>
              </a:ext>
            </a:extLst>
          </p:cNvPr>
          <p:cNvSpPr/>
          <p:nvPr/>
        </p:nvSpPr>
        <p:spPr>
          <a:xfrm>
            <a:off x="9211457" y="5018532"/>
            <a:ext cx="177107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A83F9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Mentor</a:t>
            </a:r>
            <a:r>
              <a:rPr lang="en-US" sz="1750" b="1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:</a:t>
            </a:r>
            <a:r>
              <a:rPr lang="en-US" sz="17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Karthik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3432076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9" grpId="0" animBg="1"/>
      <p:bldP spid="21" grpId="0" animBg="1"/>
      <p:bldP spid="23" grpId="0" animBg="1"/>
      <p:bldP spid="25" grpId="0" animBg="1"/>
      <p:bldP spid="27" grpId="0" animBg="1"/>
      <p:bldP spid="29" grpId="0" animBg="1"/>
      <p:bldP spid="3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0">
            <a:extLst>
              <a:ext uri="{FF2B5EF4-FFF2-40B4-BE49-F238E27FC236}">
                <a16:creationId xmlns:a16="http://schemas.microsoft.com/office/drawing/2014/main" id="{4D53BD8F-C16D-5781-83AB-B22D628C9B48}"/>
              </a:ext>
            </a:extLst>
          </p:cNvPr>
          <p:cNvSpPr/>
          <p:nvPr/>
        </p:nvSpPr>
        <p:spPr>
          <a:xfrm>
            <a:off x="1061570" y="71914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A83F9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Project Objective</a:t>
            </a:r>
            <a:endParaRPr lang="en-US" sz="4450" dirty="0">
              <a:solidFill>
                <a:srgbClr val="A83F9C"/>
              </a:solidFill>
            </a:endParaRP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22AEB360-085D-5C61-4CEE-8F87742BC677}"/>
              </a:ext>
            </a:extLst>
          </p:cNvPr>
          <p:cNvSpPr/>
          <p:nvPr/>
        </p:nvSpPr>
        <p:spPr>
          <a:xfrm>
            <a:off x="1061570" y="199489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A83F9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Core Mission</a:t>
            </a:r>
            <a:endParaRPr lang="en-US" sz="2650" dirty="0">
              <a:solidFill>
                <a:srgbClr val="A83F9C"/>
              </a:solidFill>
            </a:endParaRPr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162DD048-8A50-97B1-CAE6-66698C0CE359}"/>
              </a:ext>
            </a:extLst>
          </p:cNvPr>
          <p:cNvSpPr/>
          <p:nvPr/>
        </p:nvSpPr>
        <p:spPr>
          <a:xfrm>
            <a:off x="1061570" y="2647002"/>
            <a:ext cx="3501509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03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Build an intelligent machine learning model that accurately predicts user preferences and delivers personalized product recommendations, transforming the customer shopping experience through data-driven insights.</a:t>
            </a:r>
            <a:endParaRPr lang="en-US" sz="1750" dirty="0">
              <a:solidFill>
                <a:srgbClr val="7030A0"/>
              </a:solidFill>
            </a:endParaRP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E4EC3829-01CC-2460-32E1-70E24063D273}"/>
              </a:ext>
            </a:extLst>
          </p:cNvPr>
          <p:cNvSpPr/>
          <p:nvPr/>
        </p:nvSpPr>
        <p:spPr>
          <a:xfrm>
            <a:off x="5124101" y="1994897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A83F9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Key Goals</a:t>
            </a:r>
            <a:endParaRPr lang="en-US" sz="2650" dirty="0">
              <a:solidFill>
                <a:srgbClr val="A83F9C"/>
              </a:solidFill>
            </a:endParaRP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DD48C785-6581-0231-CCB7-734C9D539A7F}"/>
              </a:ext>
            </a:extLst>
          </p:cNvPr>
          <p:cNvSpPr/>
          <p:nvPr/>
        </p:nvSpPr>
        <p:spPr>
          <a:xfrm>
            <a:off x="5124101" y="2647002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03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Enhance customer engagement through tailored, relevant product suggestions</a:t>
            </a:r>
            <a:endParaRPr lang="en-US" sz="1750" dirty="0">
              <a:solidFill>
                <a:srgbClr val="7030A0"/>
              </a:solidFill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AD0392C7-C4C4-E33D-1C34-620AD09A0BC6}"/>
              </a:ext>
            </a:extLst>
          </p:cNvPr>
          <p:cNvSpPr/>
          <p:nvPr/>
        </p:nvSpPr>
        <p:spPr>
          <a:xfrm>
            <a:off x="5124101" y="3815005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03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 create ML algorithms to understand user behavior patterns</a:t>
            </a:r>
            <a:endParaRPr lang="en-US" sz="175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6877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81152B2-6ED7-A1EE-03E8-BE3FC1E6E0E3}"/>
              </a:ext>
            </a:extLst>
          </p:cNvPr>
          <p:cNvSpPr/>
          <p:nvPr/>
        </p:nvSpPr>
        <p:spPr>
          <a:xfrm>
            <a:off x="487031" y="777594"/>
            <a:ext cx="4495800" cy="688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000" dirty="0">
                <a:solidFill>
                  <a:schemeClr val="accent5">
                    <a:lumMod val="75000"/>
                  </a:schemeClr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Dataset Overview</a:t>
            </a:r>
            <a:endParaRPr lang="en-US" sz="4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4E91CB4-787B-131E-C4FE-6C9924753A3D}"/>
              </a:ext>
            </a:extLst>
          </p:cNvPr>
          <p:cNvSpPr/>
          <p:nvPr/>
        </p:nvSpPr>
        <p:spPr>
          <a:xfrm>
            <a:off x="318393" y="1759501"/>
            <a:ext cx="2416538" cy="7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48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78K</a:t>
            </a:r>
            <a:endParaRPr lang="en-US" sz="4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4B38B39-ECA3-EE78-9955-BBEFEEDA29D8}"/>
              </a:ext>
            </a:extLst>
          </p:cNvPr>
          <p:cNvSpPr/>
          <p:nvPr/>
        </p:nvSpPr>
        <p:spPr>
          <a:xfrm>
            <a:off x="420668" y="2779910"/>
            <a:ext cx="2247852" cy="344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Total Records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D34E325-8829-D2F2-4C17-6DDFE1CEA201}"/>
              </a:ext>
            </a:extLst>
          </p:cNvPr>
          <p:cNvSpPr/>
          <p:nvPr/>
        </p:nvSpPr>
        <p:spPr>
          <a:xfrm>
            <a:off x="318393" y="3281061"/>
            <a:ext cx="2416538" cy="704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200" dirty="0">
                <a:solidFill>
                  <a:schemeClr val="accent5">
                    <a:lumMod val="60000"/>
                    <a:lumOff val="40000"/>
                  </a:scheme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Comprehensive interaction data</a:t>
            </a:r>
            <a:endParaRPr lang="en-US" sz="1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86FD115-FE64-77F3-22F8-2D4C6B8557C2}"/>
              </a:ext>
            </a:extLst>
          </p:cNvPr>
          <p:cNvSpPr/>
          <p:nvPr/>
        </p:nvSpPr>
        <p:spPr>
          <a:xfrm>
            <a:off x="3022597" y="1759501"/>
            <a:ext cx="2416633" cy="7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48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76K</a:t>
            </a:r>
            <a:endParaRPr lang="en-US" sz="48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9E4951F-516C-C433-1601-DE9E50C24DAA}"/>
              </a:ext>
            </a:extLst>
          </p:cNvPr>
          <p:cNvSpPr/>
          <p:nvPr/>
        </p:nvSpPr>
        <p:spPr>
          <a:xfrm>
            <a:off x="3124988" y="2779910"/>
            <a:ext cx="2247852" cy="344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Unique Users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91C5696-617A-524C-BAE3-FC9632A8B053}"/>
              </a:ext>
            </a:extLst>
          </p:cNvPr>
          <p:cNvSpPr/>
          <p:nvPr/>
        </p:nvSpPr>
        <p:spPr>
          <a:xfrm>
            <a:off x="3022597" y="3270575"/>
            <a:ext cx="2416633" cy="35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200" dirty="0">
                <a:solidFill>
                  <a:schemeClr val="accent5">
                    <a:lumMod val="60000"/>
                    <a:lumOff val="40000"/>
                  </a:scheme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Diverse customer base</a:t>
            </a:r>
            <a:endParaRPr lang="en-US" sz="1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383BAA1-74B4-5F21-027C-FBA772A7DC57}"/>
              </a:ext>
            </a:extLst>
          </p:cNvPr>
          <p:cNvSpPr/>
          <p:nvPr/>
        </p:nvSpPr>
        <p:spPr>
          <a:xfrm>
            <a:off x="5895698" y="1759501"/>
            <a:ext cx="2416633" cy="7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48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40K</a:t>
            </a:r>
            <a:endParaRPr lang="en-US" sz="48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EA9E91C-9031-8149-363A-7FB301548475}"/>
              </a:ext>
            </a:extLst>
          </p:cNvPr>
          <p:cNvSpPr/>
          <p:nvPr/>
        </p:nvSpPr>
        <p:spPr>
          <a:xfrm>
            <a:off x="5998090" y="2779910"/>
            <a:ext cx="2247852" cy="344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Unique Products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DE0030E-F82A-E948-9592-4E4C7D509D83}"/>
              </a:ext>
            </a:extLst>
          </p:cNvPr>
          <p:cNvSpPr/>
          <p:nvPr/>
        </p:nvSpPr>
        <p:spPr>
          <a:xfrm>
            <a:off x="5895698" y="3270575"/>
            <a:ext cx="2416633" cy="35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200" dirty="0">
                <a:solidFill>
                  <a:schemeClr val="accent5">
                    <a:lumMod val="60000"/>
                    <a:lumOff val="40000"/>
                  </a:scheme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Extensive catalog coverage</a:t>
            </a:r>
            <a:endParaRPr lang="en-US" sz="1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0D4456F-7554-3DD4-57D5-DF6485C202A1}"/>
              </a:ext>
            </a:extLst>
          </p:cNvPr>
          <p:cNvSpPr/>
          <p:nvPr/>
        </p:nvSpPr>
        <p:spPr>
          <a:xfrm>
            <a:off x="8768799" y="1759501"/>
            <a:ext cx="2416633" cy="726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48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4</a:t>
            </a:r>
            <a:endParaRPr lang="en-US" sz="48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C104866-5259-6FB4-5063-3EAC1D56C7DB}"/>
              </a:ext>
            </a:extLst>
          </p:cNvPr>
          <p:cNvSpPr/>
          <p:nvPr/>
        </p:nvSpPr>
        <p:spPr>
          <a:xfrm>
            <a:off x="8871191" y="2779910"/>
            <a:ext cx="2247852" cy="344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Key Attributes</a:t>
            </a:r>
            <a:endParaRPr 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CE367CD-0436-C437-8FA2-AA9082891491}"/>
              </a:ext>
            </a:extLst>
          </p:cNvPr>
          <p:cNvSpPr/>
          <p:nvPr/>
        </p:nvSpPr>
        <p:spPr>
          <a:xfrm>
            <a:off x="8768799" y="3281061"/>
            <a:ext cx="2416633" cy="704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200" dirty="0">
                <a:solidFill>
                  <a:schemeClr val="accent5">
                    <a:lumMod val="60000"/>
                    <a:lumOff val="40000"/>
                  </a:scheme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userid, productid, rating, date</a:t>
            </a:r>
            <a:endParaRPr lang="en-US" sz="1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82AC801-1242-11BC-0523-87E97B9581F5}"/>
              </a:ext>
            </a:extLst>
          </p:cNvPr>
          <p:cNvSpPr/>
          <p:nvPr/>
        </p:nvSpPr>
        <p:spPr>
          <a:xfrm>
            <a:off x="985339" y="4321104"/>
            <a:ext cx="2697461" cy="413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Data Quality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1140536-B743-1A68-7157-D8C460335676}"/>
              </a:ext>
            </a:extLst>
          </p:cNvPr>
          <p:cNvSpPr/>
          <p:nvPr/>
        </p:nvSpPr>
        <p:spPr>
          <a:xfrm>
            <a:off x="1036136" y="4818291"/>
            <a:ext cx="6028886" cy="35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400" dirty="0">
                <a:solidFill>
                  <a:srgbClr val="703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Zero missing values – complete dataset integrity</a:t>
            </a:r>
            <a:endParaRPr lang="en-US" sz="1400" dirty="0">
              <a:solidFill>
                <a:srgbClr val="7030A0"/>
              </a:solidFill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8AFE835-DF9D-2A52-C5DB-F904E98F4AAA}"/>
              </a:ext>
            </a:extLst>
          </p:cNvPr>
          <p:cNvSpPr/>
          <p:nvPr/>
        </p:nvSpPr>
        <p:spPr>
          <a:xfrm>
            <a:off x="1036136" y="5260489"/>
            <a:ext cx="6028886" cy="35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400" dirty="0">
                <a:solidFill>
                  <a:srgbClr val="703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 duplicate records detected</a:t>
            </a:r>
            <a:endParaRPr lang="en-US" sz="1400" dirty="0">
              <a:solidFill>
                <a:srgbClr val="7030A0"/>
              </a:solidFill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103B04EF-B9E9-2608-AD59-B371AF42525F}"/>
              </a:ext>
            </a:extLst>
          </p:cNvPr>
          <p:cNvSpPr/>
          <p:nvPr/>
        </p:nvSpPr>
        <p:spPr>
          <a:xfrm>
            <a:off x="1036136" y="5702688"/>
            <a:ext cx="6028886" cy="35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400" dirty="0">
                <a:solidFill>
                  <a:srgbClr val="703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Clean, structured format ready for analysis</a:t>
            </a:r>
            <a:endParaRPr lang="en-US" sz="1400" dirty="0">
              <a:solidFill>
                <a:srgbClr val="7030A0"/>
              </a:solidFill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F962EB9-0D95-CCFF-B814-A47867C31A80}"/>
              </a:ext>
            </a:extLst>
          </p:cNvPr>
          <p:cNvSpPr/>
          <p:nvPr/>
        </p:nvSpPr>
        <p:spPr>
          <a:xfrm>
            <a:off x="6712442" y="4321104"/>
            <a:ext cx="2697461" cy="413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Rating Scale</a:t>
            </a:r>
            <a:endParaRPr lang="en-US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880351D-9DDC-3619-8894-37A3C8F56124}"/>
              </a:ext>
            </a:extLst>
          </p:cNvPr>
          <p:cNvSpPr/>
          <p:nvPr/>
        </p:nvSpPr>
        <p:spPr>
          <a:xfrm>
            <a:off x="6740657" y="4992377"/>
            <a:ext cx="3872974" cy="1057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400" dirty="0">
                <a:solidFill>
                  <a:srgbClr val="703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Ratings range from </a:t>
            </a:r>
            <a:r>
              <a:rPr lang="en-US" sz="1400" b="1" dirty="0">
                <a:solidFill>
                  <a:srgbClr val="703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 (lowest)</a:t>
            </a:r>
            <a:r>
              <a:rPr lang="en-US" sz="1400" dirty="0">
                <a:solidFill>
                  <a:srgbClr val="703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to </a:t>
            </a:r>
            <a:r>
              <a:rPr lang="en-US" sz="1400" b="1" dirty="0">
                <a:solidFill>
                  <a:srgbClr val="703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 (highest)</a:t>
            </a:r>
            <a:r>
              <a:rPr lang="en-US" sz="1400" dirty="0">
                <a:solidFill>
                  <a:srgbClr val="703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capturing full spectrum of user satisfaction levels.</a:t>
            </a:r>
            <a:endParaRPr lang="en-US" sz="14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5550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DA7DBA8-9F9D-B970-F757-E5CB33FA6F67}"/>
              </a:ext>
            </a:extLst>
          </p:cNvPr>
          <p:cNvSpPr/>
          <p:nvPr/>
        </p:nvSpPr>
        <p:spPr>
          <a:xfrm>
            <a:off x="750175" y="633135"/>
            <a:ext cx="5866526" cy="571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3600" dirty="0">
                <a:solidFill>
                  <a:schemeClr val="accent5">
                    <a:lumMod val="75000"/>
                  </a:schemeClr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Exploratory Data Analysis</a:t>
            </a:r>
            <a:endParaRPr lang="en-US" sz="3600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3" name="Image 0">
            <a:extLst>
              <a:ext uri="{FF2B5EF4-FFF2-40B4-BE49-F238E27FC236}">
                <a16:creationId xmlns:a16="http://schemas.microsoft.com/office/drawing/2014/main" id="{29A604C1-9620-5102-D86F-3E875D4209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014" y="1774746"/>
            <a:ext cx="3016963" cy="198967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6FD12DCE-0421-919E-09C3-BFF12A2665C4}"/>
              </a:ext>
            </a:extLst>
          </p:cNvPr>
          <p:cNvSpPr/>
          <p:nvPr/>
        </p:nvSpPr>
        <p:spPr>
          <a:xfrm>
            <a:off x="793790" y="4148137"/>
            <a:ext cx="2220042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dirty="0">
                <a:solidFill>
                  <a:srgbClr val="7030A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Rating Distribution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8BFF436-9C7F-D353-B200-F97C5F7E9DBE}"/>
              </a:ext>
            </a:extLst>
          </p:cNvPr>
          <p:cNvSpPr/>
          <p:nvPr/>
        </p:nvSpPr>
        <p:spPr>
          <a:xfrm>
            <a:off x="793790" y="4613910"/>
            <a:ext cx="3435310" cy="1724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Our rating distribution clearly shows a strong positive trend, with the majority of user ratings clustering between 4 and 5 stars, highlighting high product quality and satisfaction.</a:t>
            </a:r>
            <a:endParaRPr lang="en-US" sz="1400" dirty="0"/>
          </a:p>
        </p:txBody>
      </p:sp>
      <p:pic>
        <p:nvPicPr>
          <p:cNvPr id="6" name="Image 1">
            <a:extLst>
              <a:ext uri="{FF2B5EF4-FFF2-40B4-BE49-F238E27FC236}">
                <a16:creationId xmlns:a16="http://schemas.microsoft.com/office/drawing/2014/main" id="{2A9D2D7B-9595-BDA4-DF8A-646842E7EF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281298">
            <a:off x="4518361" y="1791896"/>
            <a:ext cx="3155276" cy="199339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6F3ED97A-3B31-FD2C-4AC7-7A87BCC5B297}"/>
              </a:ext>
            </a:extLst>
          </p:cNvPr>
          <p:cNvSpPr/>
          <p:nvPr/>
        </p:nvSpPr>
        <p:spPr>
          <a:xfrm>
            <a:off x="4483285" y="4153177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dirty="0">
                <a:solidFill>
                  <a:srgbClr val="7030A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Top Products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402180D8-632D-F83B-31C9-110C520ADAD1}"/>
              </a:ext>
            </a:extLst>
          </p:cNvPr>
          <p:cNvSpPr/>
          <p:nvPr/>
        </p:nvSpPr>
        <p:spPr>
          <a:xfrm>
            <a:off x="4483285" y="4618950"/>
            <a:ext cx="3314515" cy="137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Visualizations of top products confirm consistent high ratings, reflecting reliable quality and strong market appeal across our catalog.</a:t>
            </a:r>
            <a:endParaRPr lang="en-US" sz="1400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BD10A5BF-7414-6C49-48F9-B0939D6BC4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880134">
            <a:off x="8301140" y="1771026"/>
            <a:ext cx="2982986" cy="199339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E685D2A2-847A-4955-5BC5-9240C8DE5EA0}"/>
              </a:ext>
            </a:extLst>
          </p:cNvPr>
          <p:cNvSpPr/>
          <p:nvPr/>
        </p:nvSpPr>
        <p:spPr>
          <a:xfrm>
            <a:off x="8179949" y="4148137"/>
            <a:ext cx="2079717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dirty="0">
                <a:solidFill>
                  <a:srgbClr val="7030A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User Activity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0A928E9D-532B-ECFD-2077-C17E18F614D1}"/>
              </a:ext>
            </a:extLst>
          </p:cNvPr>
          <p:cNvSpPr/>
          <p:nvPr/>
        </p:nvSpPr>
        <p:spPr>
          <a:xfrm>
            <a:off x="8179949" y="4613910"/>
            <a:ext cx="3218261" cy="137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4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User activity timelines reveal steady growth in platform engagement, with increasing participation and interaction rates over time.</a:t>
            </a:r>
            <a:endParaRPr lang="en-US" sz="14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71B442D3-61E3-D4AF-91EF-FF42589EF83C}"/>
              </a:ext>
            </a:extLst>
          </p:cNvPr>
          <p:cNvSpPr/>
          <p:nvPr/>
        </p:nvSpPr>
        <p:spPr>
          <a:xfrm>
            <a:off x="793790" y="6869430"/>
            <a:ext cx="13042821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Key visualizations include rating histograms, top product bar charts, user activity timelines, and engagement heatmaps that reveal critical patterns in customer behavior.</a:t>
            </a:r>
            <a:endParaRPr lang="en-US" sz="1650" dirty="0"/>
          </a:p>
        </p:txBody>
      </p:sp>
    </p:spTree>
    <p:extLst>
      <p:ext uri="{BB962C8B-B14F-4D97-AF65-F5344CB8AC3E}">
        <p14:creationId xmlns:p14="http://schemas.microsoft.com/office/powerpoint/2010/main" val="894221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5A2A83"/>
                </a:solidFill>
              </a:defRPr>
            </a:pPr>
            <a:r>
              <a:t>Distribution of Ratings</a:t>
            </a:r>
          </a:p>
        </p:txBody>
      </p:sp>
      <p:pic>
        <p:nvPicPr>
          <p:cNvPr id="3" name="Picture 2" descr="rating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521" y="1280160"/>
            <a:ext cx="6658458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55521" y="5669280"/>
            <a:ext cx="638354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5A2A83"/>
                </a:solidFill>
              </a:defRPr>
            </a:pPr>
            <a:r>
              <a:rPr lang="en-US" dirty="0"/>
              <a:t>     </a:t>
            </a:r>
            <a:r>
              <a:rPr dirty="0"/>
              <a:t>Rating 5 dominates the dataset, showing strong positive bias.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5A2A83"/>
                </a:solidFill>
              </a:defRPr>
            </a:pPr>
            <a:r>
              <a:t>Percentage of Each Rating</a:t>
            </a:r>
          </a:p>
        </p:txBody>
      </p:sp>
      <p:pic>
        <p:nvPicPr>
          <p:cNvPr id="3" name="Picture 2" descr="percentage_of_each_ra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7173" y="1367709"/>
            <a:ext cx="4205876" cy="438912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B w="152400" h="50800" prst="softRound"/>
          </a:sp3d>
        </p:spPr>
      </p:pic>
      <p:sp>
        <p:nvSpPr>
          <p:cNvPr id="4" name="TextBox 3"/>
          <p:cNvSpPr txBox="1"/>
          <p:nvPr/>
        </p:nvSpPr>
        <p:spPr>
          <a:xfrm>
            <a:off x="2255520" y="5669280"/>
            <a:ext cx="606736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5A2A83"/>
                </a:solidFill>
              </a:defRPr>
            </a:pPr>
            <a:r>
              <a:rPr lang="en-US" dirty="0"/>
              <a:t>  </a:t>
            </a:r>
            <a:r>
              <a:rPr dirty="0"/>
              <a:t> 4- and 5-star ratings account for the majority of feedback.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5A2A83"/>
                </a:solidFill>
              </a:defRPr>
            </a:pPr>
            <a:r>
              <a:t>Number of Ratings per Product</a:t>
            </a:r>
          </a:p>
        </p:txBody>
      </p:sp>
      <p:pic>
        <p:nvPicPr>
          <p:cNvPr id="3" name="Picture 2" descr="ratings_per_prod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0053" y="1280160"/>
            <a:ext cx="6693163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79256" y="5669280"/>
            <a:ext cx="620041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5A2A83"/>
                </a:solidFill>
              </a:defRPr>
            </a:pPr>
            <a:r>
              <a:rPr lang="en-US" dirty="0"/>
              <a:t>        </a:t>
            </a:r>
            <a:r>
              <a:rPr dirty="0"/>
              <a:t> Most products have very few ratings</a:t>
            </a:r>
            <a:r>
              <a:rPr lang="en-US" dirty="0"/>
              <a:t>-</a:t>
            </a:r>
            <a:r>
              <a:rPr dirty="0"/>
              <a:t>long-tail distribution.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5A2A83"/>
                </a:solidFill>
              </a:defRPr>
            </a:pPr>
            <a:r>
              <a:t>Number of Ratings per User</a:t>
            </a:r>
          </a:p>
        </p:txBody>
      </p:sp>
      <p:pic>
        <p:nvPicPr>
          <p:cNvPr id="3" name="Picture 2" descr="ratings_per_u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718" y="1303020"/>
            <a:ext cx="6693163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713852" y="5692140"/>
            <a:ext cx="373089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5A2A83"/>
                </a:solidFill>
              </a:defRPr>
            </a:pPr>
            <a:r>
              <a:rPr lang="en-US" dirty="0"/>
              <a:t>     </a:t>
            </a:r>
            <a:r>
              <a:rPr dirty="0"/>
              <a:t>Most users rate only one product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5A2A83"/>
                </a:solidFill>
              </a:defRPr>
            </a:pPr>
            <a:r>
              <a:t>Top 10 Most Active Users</a:t>
            </a:r>
          </a:p>
        </p:txBody>
      </p:sp>
      <p:pic>
        <p:nvPicPr>
          <p:cNvPr id="3" name="Picture 2" descr="top_10_active_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0577" y="1464826"/>
            <a:ext cx="6570846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85010" y="5853946"/>
            <a:ext cx="442198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5A2A83"/>
                </a:solidFill>
              </a:defRPr>
            </a:pPr>
            <a:r>
              <a:rPr lang="en-US" dirty="0"/>
              <a:t>      </a:t>
            </a:r>
            <a:r>
              <a:rPr dirty="0"/>
              <a:t>These users contribute the most ratings.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5A2A83"/>
                </a:solidFill>
              </a:defRPr>
            </a:pPr>
            <a:r>
              <a:t>Top 10 Most Rated Products</a:t>
            </a:r>
          </a:p>
        </p:txBody>
      </p:sp>
      <p:pic>
        <p:nvPicPr>
          <p:cNvPr id="3" name="Picture 2" descr="top_10_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478" y="1287942"/>
            <a:ext cx="6951986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14002" y="5677062"/>
            <a:ext cx="660693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5A2A83"/>
                </a:solidFill>
              </a:defRPr>
            </a:pPr>
            <a:r>
              <a:rPr lang="en-US" dirty="0"/>
              <a:t>        </a:t>
            </a:r>
            <a:r>
              <a:rPr dirty="0"/>
              <a:t>These products are highly popular and widely interacted with.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5A2A83"/>
                </a:solidFill>
              </a:defRPr>
            </a:pPr>
            <a:r>
              <a:t>Top 10 Products by Average Rating</a:t>
            </a:r>
          </a:p>
        </p:txBody>
      </p:sp>
      <p:pic>
        <p:nvPicPr>
          <p:cNvPr id="3" name="Picture 2" descr="top_10_avg_rating_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520" y="1383273"/>
            <a:ext cx="6882785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90501" y="5772393"/>
            <a:ext cx="578196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5A2A83"/>
                </a:solidFill>
              </a:defRPr>
            </a:pPr>
            <a:r>
              <a:rPr lang="en-US" dirty="0"/>
              <a:t>         </a:t>
            </a:r>
            <a:r>
              <a:rPr dirty="0"/>
              <a:t>These products show the highest satisfaction scores.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EFC82B-F8E8-1F6C-C854-7A05DA03C532}"/>
              </a:ext>
            </a:extLst>
          </p:cNvPr>
          <p:cNvSpPr txBox="1"/>
          <p:nvPr/>
        </p:nvSpPr>
        <p:spPr>
          <a:xfrm>
            <a:off x="11696700" y="5957059"/>
            <a:ext cx="33020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EDA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E38A95E-FFB6-515C-4D06-B2ABA2175841}"/>
              </a:ext>
            </a:extLst>
          </p:cNvPr>
          <p:cNvSpPr/>
          <p:nvPr/>
        </p:nvSpPr>
        <p:spPr>
          <a:xfrm>
            <a:off x="552491" y="592773"/>
            <a:ext cx="5861010" cy="588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6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Data Details &amp; Key Findings</a:t>
            </a:r>
            <a:endParaRPr lang="en-US" sz="3600" dirty="0"/>
          </a:p>
        </p:txBody>
      </p:sp>
      <p:pic>
        <p:nvPicPr>
          <p:cNvPr id="3" name="Image 0">
            <a:extLst>
              <a:ext uri="{FF2B5EF4-FFF2-40B4-BE49-F238E27FC236}">
                <a16:creationId xmlns:a16="http://schemas.microsoft.com/office/drawing/2014/main" id="{0C2E1066-814D-4C3F-8F93-D37A406E21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089" t="-8501" b="-1"/>
          <a:stretch/>
        </p:blipFill>
        <p:spPr>
          <a:xfrm>
            <a:off x="1403689" y="1514673"/>
            <a:ext cx="4037643" cy="2788682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CE59A5EE-44D4-4261-1DCA-4BAC7CFF0258}"/>
              </a:ext>
            </a:extLst>
          </p:cNvPr>
          <p:cNvSpPr/>
          <p:nvPr/>
        </p:nvSpPr>
        <p:spPr>
          <a:xfrm>
            <a:off x="1673724" y="4469249"/>
            <a:ext cx="403764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400" dirty="0">
                <a:solidFill>
                  <a:srgbClr val="703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Most users interact with only a few products, resulting in a large amount of missing data – a common characteristic in recommendation systems.</a:t>
            </a:r>
            <a:endParaRPr lang="en-US" sz="1400" dirty="0">
              <a:solidFill>
                <a:srgbClr val="7030A0"/>
              </a:solidFill>
            </a:endParaRPr>
          </a:p>
        </p:txBody>
      </p:sp>
      <p:pic>
        <p:nvPicPr>
          <p:cNvPr id="5" name="Image 1">
            <a:extLst>
              <a:ext uri="{FF2B5EF4-FFF2-40B4-BE49-F238E27FC236}">
                <a16:creationId xmlns:a16="http://schemas.microsoft.com/office/drawing/2014/main" id="{D23CA255-7D95-D015-4093-1DCAE1E0C7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1899047"/>
            <a:ext cx="4028746" cy="2570202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E2408481-C7A2-F868-0BA6-0560B7EF79BC}"/>
              </a:ext>
            </a:extLst>
          </p:cNvPr>
          <p:cNvSpPr/>
          <p:nvPr/>
        </p:nvSpPr>
        <p:spPr>
          <a:xfrm>
            <a:off x="6302693" y="4469249"/>
            <a:ext cx="3822053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400" dirty="0">
                <a:solidFill>
                  <a:srgbClr val="703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While strong general connections were limited, we observed a key link between user activity levels and consistent average ratings.</a:t>
            </a:r>
            <a:endParaRPr lang="en-US" sz="14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33735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F34159C-FF86-5A66-E38F-9AAD05C55935}"/>
              </a:ext>
            </a:extLst>
          </p:cNvPr>
          <p:cNvSpPr/>
          <p:nvPr/>
        </p:nvSpPr>
        <p:spPr>
          <a:xfrm>
            <a:off x="1527174" y="734542"/>
            <a:ext cx="5577602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7030A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Our Recommendation Models</a:t>
            </a:r>
            <a:endParaRPr lang="en-US" sz="2900" dirty="0">
              <a:solidFill>
                <a:srgbClr val="7030A0"/>
              </a:solidFill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54B8855-1111-6642-65C3-BC59E749F123}"/>
              </a:ext>
            </a:extLst>
          </p:cNvPr>
          <p:cNvSpPr/>
          <p:nvPr/>
        </p:nvSpPr>
        <p:spPr>
          <a:xfrm>
            <a:off x="1527174" y="1254250"/>
            <a:ext cx="2617232" cy="27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7030A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Which Models We Used</a:t>
            </a:r>
            <a:endParaRPr lang="en-US" sz="1700" dirty="0">
              <a:solidFill>
                <a:srgbClr val="7030A0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F60722D-228F-5464-2D82-03259626295A}"/>
              </a:ext>
            </a:extLst>
          </p:cNvPr>
          <p:cNvSpPr/>
          <p:nvPr/>
        </p:nvSpPr>
        <p:spPr>
          <a:xfrm>
            <a:off x="1527174" y="1589530"/>
            <a:ext cx="1304282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9661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 tested six different algorithms to find the best way to suggest products :</a:t>
            </a:r>
            <a:endParaRPr lang="en-US" sz="1150" dirty="0">
              <a:solidFill>
                <a:srgbClr val="9661FF"/>
              </a:solidFill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8354E03-9EF5-2785-E2A1-80D0434A7F03}"/>
              </a:ext>
            </a:extLst>
          </p:cNvPr>
          <p:cNvSpPr/>
          <p:nvPr/>
        </p:nvSpPr>
        <p:spPr>
          <a:xfrm>
            <a:off x="2102406" y="2387162"/>
            <a:ext cx="1936710" cy="2248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Font typeface="+mj-lt"/>
              <a:buAutoNum type="arabicPeriod"/>
            </a:pPr>
            <a:r>
              <a:rPr lang="en-US" sz="1450" dirty="0">
                <a:solidFill>
                  <a:srgbClr val="7030A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Logistic Regression</a:t>
            </a:r>
          </a:p>
          <a:p>
            <a:pPr marL="342900" indent="-342900" algn="l">
              <a:lnSpc>
                <a:spcPts val="1800"/>
              </a:lnSpc>
              <a:buFont typeface="+mj-lt"/>
              <a:buAutoNum type="arabicPeriod"/>
            </a:pPr>
            <a:endParaRPr lang="en-US" sz="1450" dirty="0">
              <a:solidFill>
                <a:srgbClr val="7030A0"/>
              </a:solidFill>
              <a:latin typeface="Alexandria Medium" pitchFamily="34" charset="0"/>
              <a:ea typeface="Alexandria Medium" pitchFamily="34" charset="-122"/>
              <a:cs typeface="Alexandria Medium" pitchFamily="34" charset="-120"/>
            </a:endParaRPr>
          </a:p>
          <a:p>
            <a:pPr marL="342900" indent="-342900" algn="l">
              <a:lnSpc>
                <a:spcPts val="1800"/>
              </a:lnSpc>
              <a:buFont typeface="+mj-lt"/>
              <a:buAutoNum type="arabicPeriod"/>
            </a:pPr>
            <a:endParaRPr lang="en-US" sz="1450" dirty="0">
              <a:solidFill>
                <a:srgbClr val="7030A0"/>
              </a:solidFill>
              <a:latin typeface="Alexandria Medium" pitchFamily="34" charset="0"/>
              <a:ea typeface="Alexandria Medium" pitchFamily="34" charset="-122"/>
              <a:cs typeface="Alexandria Medium" pitchFamily="34" charset="-120"/>
            </a:endParaRPr>
          </a:p>
          <a:p>
            <a:pPr marL="342900" indent="-342900" algn="l">
              <a:lnSpc>
                <a:spcPct val="300000"/>
              </a:lnSpc>
              <a:buFont typeface="+mj-lt"/>
              <a:buAutoNum type="arabicPeriod"/>
            </a:pPr>
            <a:r>
              <a:rPr lang="en-US" sz="1450" dirty="0">
                <a:solidFill>
                  <a:srgbClr val="7030A0"/>
                </a:solidFill>
                <a:latin typeface="Alexandria Medium" pitchFamily="34" charset="0"/>
                <a:cs typeface="Alexandria Medium" pitchFamily="34" charset="-120"/>
              </a:rPr>
              <a:t>Random Forest</a:t>
            </a:r>
          </a:p>
          <a:p>
            <a:pPr marL="342900" indent="-342900" algn="l">
              <a:lnSpc>
                <a:spcPct val="300000"/>
              </a:lnSpc>
              <a:buFont typeface="+mj-lt"/>
              <a:buAutoNum type="arabicPeriod"/>
            </a:pPr>
            <a:endParaRPr lang="en-US" sz="1450" dirty="0">
              <a:solidFill>
                <a:srgbClr val="7030A0"/>
              </a:solidFill>
              <a:latin typeface="Alexandria Medium" pitchFamily="34" charset="0"/>
              <a:cs typeface="Alexandria Medium" pitchFamily="34" charset="-12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450" dirty="0">
                <a:solidFill>
                  <a:srgbClr val="7030A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K-Nearest Neighbors</a:t>
            </a:r>
            <a:endParaRPr lang="en-US" sz="1450" dirty="0">
              <a:solidFill>
                <a:srgbClr val="7030A0"/>
              </a:solidFill>
            </a:endParaRPr>
          </a:p>
          <a:p>
            <a:pPr marL="342900" indent="-342900" algn="l">
              <a:lnSpc>
                <a:spcPct val="300000"/>
              </a:lnSpc>
              <a:buFont typeface="+mj-lt"/>
              <a:buAutoNum type="arabicPeriod"/>
            </a:pPr>
            <a:endParaRPr lang="en-US" sz="1450" dirty="0">
              <a:solidFill>
                <a:srgbClr val="7030A0"/>
              </a:solidFill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786D4A0-22A2-6FE7-E8CA-C1CC4E3840BA}"/>
              </a:ext>
            </a:extLst>
          </p:cNvPr>
          <p:cNvSpPr/>
          <p:nvPr/>
        </p:nvSpPr>
        <p:spPr>
          <a:xfrm>
            <a:off x="2473007" y="2765781"/>
            <a:ext cx="3122533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9661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basic program that predicts 'yes' or 'no' with a probability.</a:t>
            </a:r>
            <a:endParaRPr lang="en-US" sz="1150" dirty="0">
              <a:solidFill>
                <a:srgbClr val="9661FF"/>
              </a:solidFill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4430E00-6B47-8C91-44C6-CA1E95BD78B2}"/>
              </a:ext>
            </a:extLst>
          </p:cNvPr>
          <p:cNvSpPr/>
          <p:nvPr/>
        </p:nvSpPr>
        <p:spPr>
          <a:xfrm>
            <a:off x="2473007" y="3380143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1800"/>
              </a:lnSpc>
            </a:pPr>
            <a:endParaRPr lang="en-US" sz="145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D3AD8ED-7EB2-9300-260E-90882765BC12}"/>
              </a:ext>
            </a:extLst>
          </p:cNvPr>
          <p:cNvSpPr/>
          <p:nvPr/>
        </p:nvSpPr>
        <p:spPr>
          <a:xfrm>
            <a:off x="2473006" y="3741060"/>
            <a:ext cx="3122533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9661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Uses many 'decision trees' together to get better results.</a:t>
            </a:r>
            <a:endParaRPr lang="en-US" sz="1150" dirty="0">
              <a:solidFill>
                <a:srgbClr val="9661FF"/>
              </a:solidFill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6441B0D-B7CC-B44D-315C-7028D349F5E0}"/>
              </a:ext>
            </a:extLst>
          </p:cNvPr>
          <p:cNvSpPr/>
          <p:nvPr/>
        </p:nvSpPr>
        <p:spPr>
          <a:xfrm>
            <a:off x="2473006" y="4778374"/>
            <a:ext cx="3122533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9661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Guesses based on what similar users or items are doing.</a:t>
            </a:r>
            <a:endParaRPr lang="en-US" sz="1150" dirty="0">
              <a:solidFill>
                <a:srgbClr val="9661FF"/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59430EA-86A3-9FD5-0D7B-30B9D85EE684}"/>
              </a:ext>
            </a:extLst>
          </p:cNvPr>
          <p:cNvSpPr/>
          <p:nvPr/>
        </p:nvSpPr>
        <p:spPr>
          <a:xfrm>
            <a:off x="5966141" y="2385832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7030A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5.   Naive Bayes</a:t>
            </a:r>
            <a:endParaRPr lang="en-US" sz="1450" dirty="0">
              <a:solidFill>
                <a:srgbClr val="7030A0"/>
              </a:solidFill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1E1B245A-D14C-5E80-548F-1B762789FD2D}"/>
              </a:ext>
            </a:extLst>
          </p:cNvPr>
          <p:cNvSpPr/>
          <p:nvPr/>
        </p:nvSpPr>
        <p:spPr>
          <a:xfrm>
            <a:off x="6247783" y="2765781"/>
            <a:ext cx="3122652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9661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simple program that uses probability to sort things.</a:t>
            </a:r>
            <a:endParaRPr lang="en-US" sz="1150" dirty="0">
              <a:solidFill>
                <a:srgbClr val="9661FF"/>
              </a:solidFill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2C22BAD6-5EBF-781F-DF4B-1C32F2B3B60D}"/>
              </a:ext>
            </a:extLst>
          </p:cNvPr>
          <p:cNvSpPr/>
          <p:nvPr/>
        </p:nvSpPr>
        <p:spPr>
          <a:xfrm>
            <a:off x="5966139" y="3363714"/>
            <a:ext cx="2245162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7030A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6.   Support Vector Machine</a:t>
            </a:r>
            <a:endParaRPr lang="en-US" sz="1450" dirty="0">
              <a:solidFill>
                <a:srgbClr val="7030A0"/>
              </a:solidFill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8944CD10-0B66-B4FC-8704-815C193B5AC9}"/>
              </a:ext>
            </a:extLst>
          </p:cNvPr>
          <p:cNvSpPr/>
          <p:nvPr/>
        </p:nvSpPr>
        <p:spPr>
          <a:xfrm>
            <a:off x="6247783" y="3741001"/>
            <a:ext cx="3122533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9661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Finds the best line to separate different types of data.</a:t>
            </a:r>
            <a:endParaRPr lang="en-US" sz="1150" dirty="0">
              <a:solidFill>
                <a:srgbClr val="9661FF"/>
              </a:solidFill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14F1F0A0-8656-8ADA-2648-33B16EA1092D}"/>
              </a:ext>
            </a:extLst>
          </p:cNvPr>
          <p:cNvSpPr/>
          <p:nvPr/>
        </p:nvSpPr>
        <p:spPr>
          <a:xfrm>
            <a:off x="5966141" y="4485835"/>
            <a:ext cx="1842968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7030A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7.   Decision Tree</a:t>
            </a:r>
            <a:endParaRPr lang="en-US" sz="1450" dirty="0">
              <a:solidFill>
                <a:srgbClr val="7030A0"/>
              </a:solidFill>
            </a:endParaRP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9B31B392-619C-7883-AF0B-AEEBA0388147}"/>
              </a:ext>
            </a:extLst>
          </p:cNvPr>
          <p:cNvSpPr/>
          <p:nvPr/>
        </p:nvSpPr>
        <p:spPr>
          <a:xfrm>
            <a:off x="6247783" y="4868480"/>
            <a:ext cx="3122533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9661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Makes decisions like a flowchart, using a set of rules.</a:t>
            </a:r>
            <a:endParaRPr lang="en-US" sz="1150" dirty="0">
              <a:solidFill>
                <a:srgbClr val="9661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02287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5A2A83"/>
                </a:solidFill>
              </a:defRPr>
            </a:pPr>
            <a:r>
              <a:t>Average Rating vs Number of Ratings per Product</a:t>
            </a:r>
          </a:p>
        </p:txBody>
      </p:sp>
      <p:pic>
        <p:nvPicPr>
          <p:cNvPr id="3" name="Picture 2" descr="avg_rating_vs_num_ra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3053" y="1234440"/>
            <a:ext cx="5565893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381147" y="5665470"/>
            <a:ext cx="523181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5A2A83"/>
                </a:solidFill>
              </a:defRPr>
            </a:pPr>
            <a:r>
              <a:rPr lang="en-US" dirty="0"/>
              <a:t>       </a:t>
            </a:r>
            <a:r>
              <a:rPr dirty="0"/>
              <a:t> Heavily rated products cluster around 4–5 stars.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5A2A83"/>
                </a:solidFill>
              </a:defRPr>
            </a:pPr>
            <a:r>
              <a:rPr dirty="0"/>
              <a:t>ML Model Comparison (Accuracy)</a:t>
            </a:r>
          </a:p>
        </p:txBody>
      </p:sp>
      <p:pic>
        <p:nvPicPr>
          <p:cNvPr id="3" name="Picture 2" descr="model_comparison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6670" y="1280160"/>
            <a:ext cx="801866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962900" y="271899"/>
            <a:ext cx="40016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>
                <a:solidFill>
                  <a:srgbClr val="5A2A83"/>
                </a:solidFill>
              </a:defRPr>
            </a:pPr>
            <a:r>
              <a:rPr sz="1400" dirty="0"/>
              <a:t>Insight: Most ML models reach ~100% accuracy.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C4D52E-A0BB-EC94-1354-5AFF1694CDCA}"/>
              </a:ext>
            </a:extLst>
          </p:cNvPr>
          <p:cNvSpPr txBox="1"/>
          <p:nvPr/>
        </p:nvSpPr>
        <p:spPr>
          <a:xfrm>
            <a:off x="838200" y="5559286"/>
            <a:ext cx="10515600" cy="1118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ts val="2000"/>
              </a:lnSpc>
              <a:buNone/>
            </a:pPr>
            <a:r>
              <a:rPr lang="en-US" sz="1800" dirty="0">
                <a:solidFill>
                  <a:srgbClr val="703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Our evaluation revealed exceptional performance across multiple algorithms, with most models achieving near-perfect or perfect accuracy scores. The top performers – Logistic Regression, Random Forest, SVM, and Decision Tree – all reached </a:t>
            </a:r>
            <a:r>
              <a:rPr lang="en-US" sz="1800" b="1" dirty="0">
                <a:solidFill>
                  <a:schemeClr val="bg1"/>
                </a:solidFill>
                <a:highlight>
                  <a:srgbClr val="800080"/>
                </a:highlight>
                <a:latin typeface="Manrope" pitchFamily="34" charset="0"/>
                <a:ea typeface="Manrope" pitchFamily="34" charset="-122"/>
                <a:cs typeface="Manrope" pitchFamily="34" charset="-120"/>
              </a:rPr>
              <a:t>100% accuracy</a:t>
            </a:r>
            <a:r>
              <a:rPr lang="en-US" sz="1800" dirty="0">
                <a:solidFill>
                  <a:srgbClr val="703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demonstrating the strong predictive power of our feature engineering and model optimization approach.</a:t>
            </a:r>
            <a:endParaRPr lang="en-US" sz="1800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3959A54-7ABA-0B07-37D5-CCC86C2AD6D9}"/>
              </a:ext>
            </a:extLst>
          </p:cNvPr>
          <p:cNvSpPr/>
          <p:nvPr/>
        </p:nvSpPr>
        <p:spPr>
          <a:xfrm>
            <a:off x="822187" y="789248"/>
            <a:ext cx="4781312" cy="553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dirty="0">
                <a:solidFill>
                  <a:srgbClr val="83337B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Final Model Selection</a:t>
            </a:r>
            <a:endParaRPr lang="en-US" sz="3450" dirty="0">
              <a:solidFill>
                <a:srgbClr val="83337B"/>
              </a:solidFill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B82FE4A1-77F5-9D15-A125-A0504A989234}"/>
              </a:ext>
            </a:extLst>
          </p:cNvPr>
          <p:cNvSpPr/>
          <p:nvPr/>
        </p:nvSpPr>
        <p:spPr>
          <a:xfrm>
            <a:off x="822187" y="2105484"/>
            <a:ext cx="4444484" cy="1137404"/>
          </a:xfrm>
          <a:prstGeom prst="roundRect">
            <a:avLst>
              <a:gd name="adj" fmla="val 23369"/>
            </a:avLst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EE5A801D-577B-325E-2B79-2802BA4BDC7D}"/>
              </a:ext>
            </a:extLst>
          </p:cNvPr>
          <p:cNvSpPr/>
          <p:nvPr/>
        </p:nvSpPr>
        <p:spPr>
          <a:xfrm>
            <a:off x="1022212" y="2305509"/>
            <a:ext cx="1598062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A02B93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Random Forest Classifier</a:t>
            </a:r>
            <a:endParaRPr lang="en-US" sz="1700" dirty="0">
              <a:solidFill>
                <a:srgbClr val="A02B93"/>
              </a:solidFill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CF8A7503-FFE8-33F3-8988-22C1CB16EC16}"/>
              </a:ext>
            </a:extLst>
          </p:cNvPr>
          <p:cNvSpPr/>
          <p:nvPr/>
        </p:nvSpPr>
        <p:spPr>
          <a:xfrm>
            <a:off x="1022211" y="2759494"/>
            <a:ext cx="4212821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chemeClr val="accent5">
                    <a:lumMod val="60000"/>
                    <a:lumOff val="40000"/>
                  </a:scheme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Selected as the production model for deployment</a:t>
            </a:r>
            <a:endParaRPr lang="en-US" sz="135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6" name="Image 1" descr="preencoded.png">
            <a:extLst>
              <a:ext uri="{FF2B5EF4-FFF2-40B4-BE49-F238E27FC236}">
                <a16:creationId xmlns:a16="http://schemas.microsoft.com/office/drawing/2014/main" id="{6FA6E292-BFD1-260B-209A-783489C459F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22187" y="4326529"/>
            <a:ext cx="3415784" cy="555290"/>
          </a:xfrm>
          <a:prstGeom prst="rect">
            <a:avLst/>
          </a:prstGeom>
        </p:spPr>
      </p:pic>
      <p:sp>
        <p:nvSpPr>
          <p:cNvPr id="17" name="Text 10">
            <a:extLst>
              <a:ext uri="{FF2B5EF4-FFF2-40B4-BE49-F238E27FC236}">
                <a16:creationId xmlns:a16="http://schemas.microsoft.com/office/drawing/2014/main" id="{FF9326F3-4DA2-58C1-DC89-E6ACA5CA0809}"/>
              </a:ext>
            </a:extLst>
          </p:cNvPr>
          <p:cNvSpPr/>
          <p:nvPr/>
        </p:nvSpPr>
        <p:spPr>
          <a:xfrm>
            <a:off x="822187" y="5264188"/>
            <a:ext cx="221492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chemeClr val="accent5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Input</a:t>
            </a:r>
            <a:endParaRPr lang="en-US" sz="1700" dirty="0">
              <a:solidFill>
                <a:schemeClr val="accent5"/>
              </a:solidFill>
            </a:endParaRPr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E6F95DD8-9619-E5EA-0E3B-1FDCE00A805E}"/>
              </a:ext>
            </a:extLst>
          </p:cNvPr>
          <p:cNvSpPr/>
          <p:nvPr/>
        </p:nvSpPr>
        <p:spPr>
          <a:xfrm>
            <a:off x="822187" y="5647212"/>
            <a:ext cx="4005620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chemeClr val="accent5">
                    <a:lumMod val="60000"/>
                    <a:lumOff val="40000"/>
                  </a:scheme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User ID &amp; Product ID</a:t>
            </a:r>
            <a:endParaRPr lang="en-US" sz="135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CC2AA77A-673F-CD55-0CA1-8B1D2822BAD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237971" y="4280632"/>
            <a:ext cx="3716057" cy="604104"/>
          </a:xfrm>
          <a:prstGeom prst="rect">
            <a:avLst/>
          </a:prstGeom>
        </p:spPr>
      </p:pic>
      <p:sp>
        <p:nvSpPr>
          <p:cNvPr id="20" name="Text 12">
            <a:extLst>
              <a:ext uri="{FF2B5EF4-FFF2-40B4-BE49-F238E27FC236}">
                <a16:creationId xmlns:a16="http://schemas.microsoft.com/office/drawing/2014/main" id="{2A5C3D79-A679-4BB1-E634-DBD6D98BCCE7}"/>
              </a:ext>
            </a:extLst>
          </p:cNvPr>
          <p:cNvSpPr/>
          <p:nvPr/>
        </p:nvSpPr>
        <p:spPr>
          <a:xfrm>
            <a:off x="4237971" y="5264188"/>
            <a:ext cx="221492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chemeClr val="accent5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Processing</a:t>
            </a:r>
            <a:endParaRPr lang="en-US" sz="1700" dirty="0">
              <a:solidFill>
                <a:schemeClr val="accent5"/>
              </a:solidFill>
            </a:endParaRPr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A613A917-73D6-5DAB-43A5-271CC06FEFD5}"/>
              </a:ext>
            </a:extLst>
          </p:cNvPr>
          <p:cNvSpPr/>
          <p:nvPr/>
        </p:nvSpPr>
        <p:spPr>
          <a:xfrm>
            <a:off x="4237971" y="5647212"/>
            <a:ext cx="4005620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chemeClr val="accent5">
                    <a:lumMod val="60000"/>
                    <a:lumOff val="40000"/>
                  </a:scheme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Random Forest Model</a:t>
            </a:r>
            <a:endParaRPr lang="en-US" sz="135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22" name="Image 3" descr="preencoded.png">
            <a:extLst>
              <a:ext uri="{FF2B5EF4-FFF2-40B4-BE49-F238E27FC236}">
                <a16:creationId xmlns:a16="http://schemas.microsoft.com/office/drawing/2014/main" id="{19169D55-541E-3372-F2A3-81D9CEB750F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954028" y="4277715"/>
            <a:ext cx="3716057" cy="604104"/>
          </a:xfrm>
          <a:prstGeom prst="rect">
            <a:avLst/>
          </a:prstGeom>
        </p:spPr>
      </p:pic>
      <p:sp>
        <p:nvSpPr>
          <p:cNvPr id="23" name="Text 14">
            <a:extLst>
              <a:ext uri="{FF2B5EF4-FFF2-40B4-BE49-F238E27FC236}">
                <a16:creationId xmlns:a16="http://schemas.microsoft.com/office/drawing/2014/main" id="{8794396F-56EB-D225-F01A-07936497F5B0}"/>
              </a:ext>
            </a:extLst>
          </p:cNvPr>
          <p:cNvSpPr/>
          <p:nvPr/>
        </p:nvSpPr>
        <p:spPr>
          <a:xfrm>
            <a:off x="7954028" y="5260914"/>
            <a:ext cx="221492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chemeClr val="accent5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Output</a:t>
            </a:r>
            <a:endParaRPr lang="en-US" sz="1700" dirty="0">
              <a:solidFill>
                <a:schemeClr val="accent5"/>
              </a:solidFill>
            </a:endParaRPr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766CB66C-C5C2-1217-CFBE-D1694005E39A}"/>
              </a:ext>
            </a:extLst>
          </p:cNvPr>
          <p:cNvSpPr/>
          <p:nvPr/>
        </p:nvSpPr>
        <p:spPr>
          <a:xfrm>
            <a:off x="7954028" y="5643938"/>
            <a:ext cx="4005620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chemeClr val="accent5">
                    <a:lumMod val="60000"/>
                    <a:lumOff val="40000"/>
                  </a:schemeClr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Top-N Recommendations</a:t>
            </a:r>
            <a:endParaRPr lang="en-US" sz="135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03466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CBC08F-DFB7-4C9D-ACF9-6AD65CD0F7A8}"/>
              </a:ext>
            </a:extLst>
          </p:cNvPr>
          <p:cNvSpPr/>
          <p:nvPr/>
        </p:nvSpPr>
        <p:spPr>
          <a:xfrm>
            <a:off x="620295" y="864848"/>
            <a:ext cx="5832134" cy="2792752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glow rad="101600">
              <a:schemeClr val="accent5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9FE8F9-29DC-4967-B94E-BC1D5A7E8EFD}"/>
              </a:ext>
            </a:extLst>
          </p:cNvPr>
          <p:cNvSpPr/>
          <p:nvPr/>
        </p:nvSpPr>
        <p:spPr>
          <a:xfrm>
            <a:off x="5649495" y="3817598"/>
            <a:ext cx="5832134" cy="2792752"/>
          </a:xfrm>
          <a:prstGeom prst="rect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A4CF52-7772-47E1-96E7-A967607C2AA4}"/>
              </a:ext>
            </a:extLst>
          </p:cNvPr>
          <p:cNvSpPr txBox="1"/>
          <p:nvPr/>
        </p:nvSpPr>
        <p:spPr>
          <a:xfrm>
            <a:off x="5383932" y="57156"/>
            <a:ext cx="1774845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MY" sz="13800" kern="1500" spc="-800" dirty="0">
                <a:solidFill>
                  <a:srgbClr val="A83F9C">
                    <a:alpha val="75000"/>
                  </a:srgbClr>
                </a:solidFill>
                <a:latin typeface="Aileron" panose="00000500000000000000" pitchFamily="50" charset="0"/>
                <a:cs typeface="Aharoni" panose="02010803020104030203" pitchFamily="2" charset="-79"/>
              </a:rPr>
              <a:t>01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3D5685-C5E4-4797-8B53-6157D991A011}"/>
              </a:ext>
            </a:extLst>
          </p:cNvPr>
          <p:cNvSpPr txBox="1"/>
          <p:nvPr/>
        </p:nvSpPr>
        <p:spPr>
          <a:xfrm>
            <a:off x="427137" y="3469587"/>
            <a:ext cx="1774845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MY" sz="13800" kern="1500" spc="-800" dirty="0">
                <a:solidFill>
                  <a:srgbClr val="A83F9C">
                    <a:alpha val="75000"/>
                  </a:srgbClr>
                </a:solidFill>
                <a:latin typeface="Aileron" panose="00000500000000000000" pitchFamily="50" charset="0"/>
                <a:cs typeface="Aharoni" panose="02010803020104030203" pitchFamily="2" charset="-79"/>
              </a:rPr>
              <a:t>02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6CD203-0BBE-4925-BBF2-31E42679574A}"/>
              </a:ext>
            </a:extLst>
          </p:cNvPr>
          <p:cNvSpPr txBox="1"/>
          <p:nvPr/>
        </p:nvSpPr>
        <p:spPr>
          <a:xfrm>
            <a:off x="9303801" y="373473"/>
            <a:ext cx="24064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MY" sz="4000" dirty="0">
                <a:solidFill>
                  <a:srgbClr val="A83F9C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STREMLIT</a:t>
            </a: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3A6D1A70-6172-0981-A0A9-81FBEBFF0A98}"/>
              </a:ext>
            </a:extLst>
          </p:cNvPr>
          <p:cNvSpPr/>
          <p:nvPr/>
        </p:nvSpPr>
        <p:spPr>
          <a:xfrm>
            <a:off x="6848846" y="1944023"/>
            <a:ext cx="3757444" cy="94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4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Main User Interface</a:t>
            </a:r>
            <a:endParaRPr lang="en-US" sz="240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DE75EE98-15A4-6690-AAF0-36E1ED95AC29}"/>
              </a:ext>
            </a:extLst>
          </p:cNvPr>
          <p:cNvSpPr/>
          <p:nvPr/>
        </p:nvSpPr>
        <p:spPr>
          <a:xfrm>
            <a:off x="6848846" y="2416099"/>
            <a:ext cx="3960535" cy="1479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600"/>
              </a:lnSpc>
              <a:buNone/>
            </a:pPr>
            <a:r>
              <a:rPr lang="en-US" sz="2000" dirty="0">
                <a:solidFill>
                  <a:srgbClr val="703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clean and intuitive homepage displaying popular products and navigation options.</a:t>
            </a:r>
            <a:endParaRPr lang="en-US" sz="2000" dirty="0">
              <a:solidFill>
                <a:srgbClr val="7030A0"/>
              </a:solidFill>
            </a:endParaRPr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3E936AA3-CBE4-4C98-BB03-42BCCAAC44F2}"/>
              </a:ext>
            </a:extLst>
          </p:cNvPr>
          <p:cNvSpPr/>
          <p:nvPr/>
        </p:nvSpPr>
        <p:spPr>
          <a:xfrm>
            <a:off x="2011961" y="4119260"/>
            <a:ext cx="3270286" cy="646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24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Personalized Recommendations</a:t>
            </a:r>
            <a:endParaRPr lang="en-US" sz="2400" dirty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736A91BF-CCD9-BA13-F617-9B78FFA670FC}"/>
              </a:ext>
            </a:extLst>
          </p:cNvPr>
          <p:cNvSpPr/>
          <p:nvPr/>
        </p:nvSpPr>
        <p:spPr>
          <a:xfrm>
            <a:off x="1680808" y="4977978"/>
            <a:ext cx="3601439" cy="1614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600"/>
              </a:lnSpc>
              <a:buNone/>
            </a:pPr>
            <a:r>
              <a:rPr lang="en-US" sz="2000" dirty="0">
                <a:solidFill>
                  <a:srgbClr val="703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results page showing tailored product suggestions based on user preferences and history.</a:t>
            </a:r>
            <a:endParaRPr lang="en-US" sz="2000" dirty="0">
              <a:solidFill>
                <a:srgbClr val="7030A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EA8014-5F9B-A669-3445-08C8A4C9C6F8}"/>
              </a:ext>
            </a:extLst>
          </p:cNvPr>
          <p:cNvSpPr txBox="1"/>
          <p:nvPr/>
        </p:nvSpPr>
        <p:spPr>
          <a:xfrm>
            <a:off x="9303801" y="896693"/>
            <a:ext cx="6362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http://localhost:8501/</a:t>
            </a:r>
          </a:p>
        </p:txBody>
      </p:sp>
    </p:spTree>
    <p:extLst>
      <p:ext uri="{BB962C8B-B14F-4D97-AF65-F5344CB8AC3E}">
        <p14:creationId xmlns:p14="http://schemas.microsoft.com/office/powerpoint/2010/main" val="4292824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/>
      <p:bldP spid="7" grpId="0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FF9C12-384B-4D2C-A282-47B282BD3ADB}"/>
              </a:ext>
            </a:extLst>
          </p:cNvPr>
          <p:cNvSpPr/>
          <p:nvPr/>
        </p:nvSpPr>
        <p:spPr>
          <a:xfrm>
            <a:off x="4902199" y="1262744"/>
            <a:ext cx="6716644" cy="4339770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8FB5B8-5365-41FA-ABDD-C943F1962EB3}"/>
              </a:ext>
            </a:extLst>
          </p:cNvPr>
          <p:cNvSpPr/>
          <p:nvPr/>
        </p:nvSpPr>
        <p:spPr>
          <a:xfrm>
            <a:off x="0" y="0"/>
            <a:ext cx="48177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0C1A5F-F203-4E6C-8F58-6D004BABE64A}"/>
              </a:ext>
            </a:extLst>
          </p:cNvPr>
          <p:cNvSpPr/>
          <p:nvPr/>
        </p:nvSpPr>
        <p:spPr>
          <a:xfrm>
            <a:off x="4140149" y="1262744"/>
            <a:ext cx="360000" cy="433251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solidFill>
                <a:srgbClr val="FF4646"/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17D824F-5C23-6AED-FB0E-19DC55CDBD94}"/>
              </a:ext>
            </a:extLst>
          </p:cNvPr>
          <p:cNvSpPr/>
          <p:nvPr/>
        </p:nvSpPr>
        <p:spPr>
          <a:xfrm>
            <a:off x="802931" y="1573625"/>
            <a:ext cx="2794759" cy="1978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8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Personalized </a:t>
            </a:r>
            <a:r>
              <a:rPr lang="en-US" sz="20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FFE62C7B-B804-B316-FB62-10D3E405F65D}"/>
              </a:ext>
            </a:extLst>
          </p:cNvPr>
          <p:cNvSpPr/>
          <p:nvPr/>
        </p:nvSpPr>
        <p:spPr>
          <a:xfrm>
            <a:off x="761241" y="2563094"/>
            <a:ext cx="2947159" cy="3039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600"/>
              </a:lnSpc>
              <a:buNone/>
            </a:pPr>
            <a:r>
              <a:rPr lang="en-US" sz="2000" dirty="0">
                <a:solidFill>
                  <a:srgbClr val="7030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results page showing tailored product suggestions based on user preferences and history.</a:t>
            </a:r>
            <a:endParaRPr lang="en-US" sz="2000" dirty="0">
              <a:solidFill>
                <a:srgbClr val="7030A0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C2E84C8-2CA2-BE17-3907-ADBE607F28A0}"/>
              </a:ext>
            </a:extLst>
          </p:cNvPr>
          <p:cNvCxnSpPr/>
          <p:nvPr/>
        </p:nvCxnSpPr>
        <p:spPr>
          <a:xfrm>
            <a:off x="761241" y="2311400"/>
            <a:ext cx="2502659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9710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6A24562-65AC-4D7C-BF53-94F4E46A62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E136E2-00B4-4542-8175-1424B368ABAD}"/>
              </a:ext>
            </a:extLst>
          </p:cNvPr>
          <p:cNvSpPr txBox="1"/>
          <p:nvPr/>
        </p:nvSpPr>
        <p:spPr>
          <a:xfrm>
            <a:off x="4699659" y="2896706"/>
            <a:ext cx="27926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MY" sz="4000" b="1" kern="1500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ileron Bold" panose="00000800000000000000" pitchFamily="50" charset="0"/>
              </a:rPr>
              <a:t>THANK YOU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025674-4D42-4A7B-93B5-26C50E56574F}"/>
              </a:ext>
            </a:extLst>
          </p:cNvPr>
          <p:cNvSpPr txBox="1"/>
          <p:nvPr/>
        </p:nvSpPr>
        <p:spPr>
          <a:xfrm>
            <a:off x="5124425" y="3429000"/>
            <a:ext cx="19431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MY" sz="2400" b="1" kern="1500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Aileron UltraLight" panose="00000300000000000000" pitchFamily="50" charset="0"/>
              </a:rPr>
              <a:t>for your time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25A5EA4-79B6-44C6-8EC1-7A452F57D967}"/>
              </a:ext>
            </a:extLst>
          </p:cNvPr>
          <p:cNvCxnSpPr/>
          <p:nvPr/>
        </p:nvCxnSpPr>
        <p:spPr>
          <a:xfrm>
            <a:off x="3396000" y="2744306"/>
            <a:ext cx="5400000" cy="0"/>
          </a:xfrm>
          <a:prstGeom prst="line">
            <a:avLst/>
          </a:prstGeom>
          <a:ln>
            <a:gradFill flip="none" rotWithShape="1">
              <a:gsLst>
                <a:gs pos="0">
                  <a:schemeClr val="bg1">
                    <a:alpha val="0"/>
                  </a:schemeClr>
                </a:gs>
                <a:gs pos="50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0883770-77BB-4DFC-B778-2702ED7DD91E}"/>
              </a:ext>
            </a:extLst>
          </p:cNvPr>
          <p:cNvCxnSpPr/>
          <p:nvPr/>
        </p:nvCxnSpPr>
        <p:spPr>
          <a:xfrm>
            <a:off x="3396000" y="4131300"/>
            <a:ext cx="5400000" cy="0"/>
          </a:xfrm>
          <a:prstGeom prst="line">
            <a:avLst/>
          </a:prstGeom>
          <a:ln>
            <a:gradFill flip="none" rotWithShape="1">
              <a:gsLst>
                <a:gs pos="0">
                  <a:schemeClr val="bg1">
                    <a:alpha val="0"/>
                  </a:schemeClr>
                </a:gs>
                <a:gs pos="50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3265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7344</TotalTime>
  <Words>705</Words>
  <Application>Microsoft Office PowerPoint</Application>
  <PresentationFormat>Widescreen</PresentationFormat>
  <Paragraphs>106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1" baseType="lpstr">
      <vt:lpstr>Aharoni</vt:lpstr>
      <vt:lpstr>Aileron</vt:lpstr>
      <vt:lpstr>Aileron Black</vt:lpstr>
      <vt:lpstr>Aileron Bold</vt:lpstr>
      <vt:lpstr>Aileron UltraLight</vt:lpstr>
      <vt:lpstr>Alexandria Medium</vt:lpstr>
      <vt:lpstr>Aptos</vt:lpstr>
      <vt:lpstr>Aptos Display</vt:lpstr>
      <vt:lpstr>Arial</vt:lpstr>
      <vt:lpstr>Manrope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Distribution of Ratings</vt:lpstr>
      <vt:lpstr>Percentage of Each Rating</vt:lpstr>
      <vt:lpstr>Number of Ratings per Product</vt:lpstr>
      <vt:lpstr>Number of Ratings per User</vt:lpstr>
      <vt:lpstr>Top 10 Most Active Users</vt:lpstr>
      <vt:lpstr>Top 10 Most Rated Products</vt:lpstr>
      <vt:lpstr>Top 10 Products by Average Rating</vt:lpstr>
      <vt:lpstr>PowerPoint Presentation</vt:lpstr>
      <vt:lpstr>PowerPoint Presentation</vt:lpstr>
      <vt:lpstr>Average Rating vs Number of Ratings per Product</vt:lpstr>
      <vt:lpstr>ML Model Comparison (Accuracy)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Shamiulla Shaik</dc:creator>
  <cp:lastModifiedBy>Shamiulla Shaik</cp:lastModifiedBy>
  <cp:revision>15</cp:revision>
  <dcterms:created xsi:type="dcterms:W3CDTF">2025-11-08T08:18:27Z</dcterms:created>
  <dcterms:modified xsi:type="dcterms:W3CDTF">2025-11-13T10:42:47Z</dcterms:modified>
</cp:coreProperties>
</file>